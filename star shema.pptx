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si-L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50" d="100"/>
          <a:sy n="150" d="100"/>
        </p:scale>
        <p:origin x="7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i-LK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si-L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EF15F-F567-4100-870F-061D1DEC1EAF}" type="datetimeFigureOut">
              <a:rPr lang="si-LK" smtClean="0"/>
              <a:t>2026-03-26</a:t>
            </a:fld>
            <a:endParaRPr lang="si-L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i-L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FE71E-43F4-4564-B511-065339F33BF3}" type="slidenum">
              <a:rPr lang="si-LK" smtClean="0"/>
              <a:t>‹#›</a:t>
            </a:fld>
            <a:endParaRPr lang="si-LK"/>
          </a:p>
        </p:txBody>
      </p:sp>
    </p:spTree>
    <p:extLst>
      <p:ext uri="{BB962C8B-B14F-4D97-AF65-F5344CB8AC3E}">
        <p14:creationId xmlns:p14="http://schemas.microsoft.com/office/powerpoint/2010/main" val="689795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i-L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i-L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EF15F-F567-4100-870F-061D1DEC1EAF}" type="datetimeFigureOut">
              <a:rPr lang="si-LK" smtClean="0"/>
              <a:t>2026-03-26</a:t>
            </a:fld>
            <a:endParaRPr lang="si-L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i-L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FE71E-43F4-4564-B511-065339F33BF3}" type="slidenum">
              <a:rPr lang="si-LK" smtClean="0"/>
              <a:t>‹#›</a:t>
            </a:fld>
            <a:endParaRPr lang="si-LK"/>
          </a:p>
        </p:txBody>
      </p:sp>
    </p:spTree>
    <p:extLst>
      <p:ext uri="{BB962C8B-B14F-4D97-AF65-F5344CB8AC3E}">
        <p14:creationId xmlns:p14="http://schemas.microsoft.com/office/powerpoint/2010/main" val="3370589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i-L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EF15F-F567-4100-870F-061D1DEC1EAF}" type="datetimeFigureOut">
              <a:rPr lang="si-LK" smtClean="0"/>
              <a:t>2026-03-26</a:t>
            </a:fld>
            <a:endParaRPr lang="si-L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i-L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FE71E-43F4-4564-B511-065339F33BF3}" type="slidenum">
              <a:rPr lang="si-LK" smtClean="0"/>
              <a:t>‹#›</a:t>
            </a:fld>
            <a:endParaRPr lang="si-LK"/>
          </a:p>
        </p:txBody>
      </p:sp>
    </p:spTree>
    <p:extLst>
      <p:ext uri="{BB962C8B-B14F-4D97-AF65-F5344CB8AC3E}">
        <p14:creationId xmlns:p14="http://schemas.microsoft.com/office/powerpoint/2010/main" val="2713749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i-LK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i-LK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i-LK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EF15F-F567-4100-870F-061D1DEC1EAF}" type="datetimeFigureOut">
              <a:rPr lang="si-LK" smtClean="0"/>
              <a:t>2026-03-26</a:t>
            </a:fld>
            <a:endParaRPr lang="si-L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i-L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FE71E-43F4-4564-B511-065339F33BF3}" type="slidenum">
              <a:rPr lang="si-LK" smtClean="0"/>
              <a:t>‹#›</a:t>
            </a:fld>
            <a:endParaRPr lang="si-LK"/>
          </a:p>
        </p:txBody>
      </p:sp>
    </p:spTree>
    <p:extLst>
      <p:ext uri="{BB962C8B-B14F-4D97-AF65-F5344CB8AC3E}">
        <p14:creationId xmlns:p14="http://schemas.microsoft.com/office/powerpoint/2010/main" val="1959504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i-L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i-LK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i-LK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EF15F-F567-4100-870F-061D1DEC1EAF}" type="datetimeFigureOut">
              <a:rPr lang="si-LK" smtClean="0"/>
              <a:t>2026-03-26</a:t>
            </a:fld>
            <a:endParaRPr lang="si-L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i-L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FE71E-43F4-4564-B511-065339F33BF3}" type="slidenum">
              <a:rPr lang="si-LK" smtClean="0"/>
              <a:t>‹#›</a:t>
            </a:fld>
            <a:endParaRPr lang="si-LK"/>
          </a:p>
        </p:txBody>
      </p:sp>
    </p:spTree>
    <p:extLst>
      <p:ext uri="{BB962C8B-B14F-4D97-AF65-F5344CB8AC3E}">
        <p14:creationId xmlns:p14="http://schemas.microsoft.com/office/powerpoint/2010/main" val="545233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i-LK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EF15F-F567-4100-870F-061D1DEC1EAF}" type="datetimeFigureOut">
              <a:rPr lang="si-LK" smtClean="0"/>
              <a:t>2026-03-26</a:t>
            </a:fld>
            <a:endParaRPr lang="si-L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i-L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FE71E-43F4-4564-B511-065339F33BF3}" type="slidenum">
              <a:rPr lang="si-LK" smtClean="0"/>
              <a:t>‹#›</a:t>
            </a:fld>
            <a:endParaRPr lang="si-LK"/>
          </a:p>
        </p:txBody>
      </p:sp>
    </p:spTree>
    <p:extLst>
      <p:ext uri="{BB962C8B-B14F-4D97-AF65-F5344CB8AC3E}">
        <p14:creationId xmlns:p14="http://schemas.microsoft.com/office/powerpoint/2010/main" val="1191033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EF15F-F567-4100-870F-061D1DEC1EAF}" type="datetimeFigureOut">
              <a:rPr lang="si-LK" smtClean="0"/>
              <a:t>2026-03-26</a:t>
            </a:fld>
            <a:endParaRPr lang="si-L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i-L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FE71E-43F4-4564-B511-065339F33BF3}" type="slidenum">
              <a:rPr lang="si-LK" smtClean="0"/>
              <a:t>‹#›</a:t>
            </a:fld>
            <a:endParaRPr lang="si-LK"/>
          </a:p>
        </p:txBody>
      </p:sp>
    </p:spTree>
    <p:extLst>
      <p:ext uri="{BB962C8B-B14F-4D97-AF65-F5344CB8AC3E}">
        <p14:creationId xmlns:p14="http://schemas.microsoft.com/office/powerpoint/2010/main" val="2556110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i-L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i-LK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EF15F-F567-4100-870F-061D1DEC1EAF}" type="datetimeFigureOut">
              <a:rPr lang="si-LK" smtClean="0"/>
              <a:t>2026-03-26</a:t>
            </a:fld>
            <a:endParaRPr lang="si-L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i-L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FE71E-43F4-4564-B511-065339F33BF3}" type="slidenum">
              <a:rPr lang="si-LK" smtClean="0"/>
              <a:t>‹#›</a:t>
            </a:fld>
            <a:endParaRPr lang="si-LK"/>
          </a:p>
        </p:txBody>
      </p:sp>
    </p:spTree>
    <p:extLst>
      <p:ext uri="{BB962C8B-B14F-4D97-AF65-F5344CB8AC3E}">
        <p14:creationId xmlns:p14="http://schemas.microsoft.com/office/powerpoint/2010/main" val="374050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i-LK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i-LK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EF15F-F567-4100-870F-061D1DEC1EAF}" type="datetimeFigureOut">
              <a:rPr lang="si-LK" smtClean="0"/>
              <a:t>2026-03-26</a:t>
            </a:fld>
            <a:endParaRPr lang="si-L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i-L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FE71E-43F4-4564-B511-065339F33BF3}" type="slidenum">
              <a:rPr lang="si-LK" smtClean="0"/>
              <a:t>‹#›</a:t>
            </a:fld>
            <a:endParaRPr lang="si-LK"/>
          </a:p>
        </p:txBody>
      </p:sp>
    </p:spTree>
    <p:extLst>
      <p:ext uri="{BB962C8B-B14F-4D97-AF65-F5344CB8AC3E}">
        <p14:creationId xmlns:p14="http://schemas.microsoft.com/office/powerpoint/2010/main" val="748799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i-L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i-L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EF15F-F567-4100-870F-061D1DEC1EAF}" type="datetimeFigureOut">
              <a:rPr lang="si-LK" smtClean="0"/>
              <a:t>2026-03-26</a:t>
            </a:fld>
            <a:endParaRPr lang="si-L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i-L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FE71E-43F4-4564-B511-065339F33BF3}" type="slidenum">
              <a:rPr lang="si-LK" smtClean="0"/>
              <a:t>‹#›</a:t>
            </a:fld>
            <a:endParaRPr lang="si-LK"/>
          </a:p>
        </p:txBody>
      </p:sp>
    </p:spTree>
    <p:extLst>
      <p:ext uri="{BB962C8B-B14F-4D97-AF65-F5344CB8AC3E}">
        <p14:creationId xmlns:p14="http://schemas.microsoft.com/office/powerpoint/2010/main" val="2353365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i-L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i-L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EF15F-F567-4100-870F-061D1DEC1EAF}" type="datetimeFigureOut">
              <a:rPr lang="si-LK" smtClean="0"/>
              <a:t>2026-03-26</a:t>
            </a:fld>
            <a:endParaRPr lang="si-L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i-L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FE71E-43F4-4564-B511-065339F33BF3}" type="slidenum">
              <a:rPr lang="si-LK" smtClean="0"/>
              <a:t>‹#›</a:t>
            </a:fld>
            <a:endParaRPr lang="si-LK"/>
          </a:p>
        </p:txBody>
      </p:sp>
    </p:spTree>
    <p:extLst>
      <p:ext uri="{BB962C8B-B14F-4D97-AF65-F5344CB8AC3E}">
        <p14:creationId xmlns:p14="http://schemas.microsoft.com/office/powerpoint/2010/main" val="144052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i-L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i-L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BEF15F-F567-4100-870F-061D1DEC1EAF}" type="datetimeFigureOut">
              <a:rPr lang="si-LK" smtClean="0"/>
              <a:t>2026-03-26</a:t>
            </a:fld>
            <a:endParaRPr lang="si-L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i-L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6FE71E-43F4-4564-B511-065339F33BF3}" type="slidenum">
              <a:rPr lang="si-LK" smtClean="0"/>
              <a:t>‹#›</a:t>
            </a:fld>
            <a:endParaRPr lang="si-LK"/>
          </a:p>
        </p:txBody>
      </p:sp>
    </p:spTree>
    <p:extLst>
      <p:ext uri="{BB962C8B-B14F-4D97-AF65-F5344CB8AC3E}">
        <p14:creationId xmlns:p14="http://schemas.microsoft.com/office/powerpoint/2010/main" val="153586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i-L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1069011" y="81474"/>
            <a:ext cx="2511684" cy="4279043"/>
            <a:chOff x="4765431" y="2382715"/>
            <a:chExt cx="1951892" cy="2400300"/>
          </a:xfrm>
        </p:grpSpPr>
        <p:sp>
          <p:nvSpPr>
            <p:cNvPr id="11" name="Rectangle 10"/>
            <p:cNvSpPr/>
            <p:nvPr/>
          </p:nvSpPr>
          <p:spPr>
            <a:xfrm>
              <a:off x="4765431" y="2382715"/>
              <a:ext cx="1951892" cy="2400300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i-LK"/>
            </a:p>
          </p:txBody>
        </p:sp>
        <p:cxnSp>
          <p:nvCxnSpPr>
            <p:cNvPr id="12" name="Straight Connector 11"/>
            <p:cNvCxnSpPr/>
            <p:nvPr/>
          </p:nvCxnSpPr>
          <p:spPr>
            <a:xfrm flipV="1">
              <a:off x="4765431" y="2716823"/>
              <a:ext cx="1951892" cy="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Group 55"/>
          <p:cNvGrpSpPr/>
          <p:nvPr/>
        </p:nvGrpSpPr>
        <p:grpSpPr>
          <a:xfrm>
            <a:off x="5569816" y="416559"/>
            <a:ext cx="2215277" cy="3112160"/>
            <a:chOff x="5162678" y="2358753"/>
            <a:chExt cx="2215277" cy="3112160"/>
          </a:xfrm>
        </p:grpSpPr>
        <p:grpSp>
          <p:nvGrpSpPr>
            <p:cNvPr id="9" name="Group 8"/>
            <p:cNvGrpSpPr/>
            <p:nvPr/>
          </p:nvGrpSpPr>
          <p:grpSpPr>
            <a:xfrm>
              <a:off x="5162678" y="2363032"/>
              <a:ext cx="2215277" cy="3107881"/>
              <a:chOff x="4765431" y="2382715"/>
              <a:chExt cx="1951892" cy="2400300"/>
            </a:xfrm>
          </p:grpSpPr>
          <p:sp>
            <p:nvSpPr>
              <p:cNvPr id="4" name="Rectangle 3"/>
              <p:cNvSpPr/>
              <p:nvPr/>
            </p:nvSpPr>
            <p:spPr>
              <a:xfrm>
                <a:off x="4765431" y="2382715"/>
                <a:ext cx="1951892" cy="2400300"/>
              </a:xfrm>
              <a:prstGeom prst="rect">
                <a:avLst/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i-LK"/>
              </a:p>
            </p:txBody>
          </p:sp>
          <p:cxnSp>
            <p:nvCxnSpPr>
              <p:cNvPr id="6" name="Straight Connector 5"/>
              <p:cNvCxnSpPr/>
              <p:nvPr/>
            </p:nvCxnSpPr>
            <p:spPr>
              <a:xfrm flipV="1">
                <a:off x="4765431" y="2716823"/>
                <a:ext cx="1951892" cy="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TextBox 27"/>
            <p:cNvSpPr txBox="1"/>
            <p:nvPr/>
          </p:nvSpPr>
          <p:spPr>
            <a:xfrm flipH="1">
              <a:off x="5516431" y="2358753"/>
              <a:ext cx="13434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 smtClean="0">
                  <a:solidFill>
                    <a:schemeClr val="accent1">
                      <a:lumMod val="50000"/>
                    </a:schemeClr>
                  </a:solidFill>
                </a:rPr>
                <a:t>FactSales</a:t>
              </a:r>
              <a:endParaRPr lang="si-LK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 flipH="1">
              <a:off x="5212216" y="2904837"/>
              <a:ext cx="13434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 smtClean="0">
                  <a:solidFill>
                    <a:schemeClr val="accent1">
                      <a:lumMod val="50000"/>
                    </a:schemeClr>
                  </a:solidFill>
                </a:rPr>
                <a:t>DateKey</a:t>
              </a:r>
              <a:endParaRPr lang="si-LK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 flipH="1">
              <a:off x="5366864" y="3158323"/>
              <a:ext cx="14730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 smtClean="0">
                  <a:solidFill>
                    <a:schemeClr val="accent1">
                      <a:lumMod val="50000"/>
                    </a:schemeClr>
                  </a:solidFill>
                </a:rPr>
                <a:t>CustomerKey</a:t>
              </a:r>
              <a:endParaRPr lang="si-LK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 flipH="1">
              <a:off x="5348859" y="3423993"/>
              <a:ext cx="13434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 smtClean="0">
                  <a:solidFill>
                    <a:schemeClr val="accent1">
                      <a:lumMod val="50000"/>
                    </a:schemeClr>
                  </a:solidFill>
                </a:rPr>
                <a:t>ProductKey</a:t>
              </a:r>
              <a:endParaRPr lang="si-LK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 flipH="1">
              <a:off x="5382896" y="3689608"/>
              <a:ext cx="13434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 smtClean="0">
                  <a:solidFill>
                    <a:schemeClr val="accent1">
                      <a:lumMod val="50000"/>
                    </a:schemeClr>
                  </a:solidFill>
                </a:rPr>
                <a:t>SalesRepKey</a:t>
              </a:r>
              <a:endParaRPr lang="si-LK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 flipH="1">
              <a:off x="5212216" y="3943149"/>
              <a:ext cx="13434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 smtClean="0">
                  <a:solidFill>
                    <a:schemeClr val="accent1">
                      <a:lumMod val="50000"/>
                    </a:schemeClr>
                  </a:solidFill>
                </a:rPr>
                <a:t>SalesKey</a:t>
              </a:r>
              <a:endParaRPr lang="si-LK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 flipH="1">
              <a:off x="5343906" y="4183010"/>
              <a:ext cx="16476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 smtClean="0">
                  <a:solidFill>
                    <a:schemeClr val="accent1">
                      <a:lumMod val="50000"/>
                    </a:schemeClr>
                  </a:solidFill>
                </a:rPr>
                <a:t>Transaction_ID</a:t>
              </a:r>
              <a:endParaRPr lang="si-LK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 flipH="1">
              <a:off x="5346322" y="4439464"/>
              <a:ext cx="15141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 smtClean="0">
                  <a:solidFill>
                    <a:schemeClr val="accent1">
                      <a:lumMod val="50000"/>
                    </a:schemeClr>
                  </a:solidFill>
                </a:rPr>
                <a:t>SalesAmount</a:t>
              </a:r>
              <a:endParaRPr lang="si-LK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 flipH="1">
              <a:off x="5227784" y="4694454"/>
              <a:ext cx="13434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solidFill>
                    <a:schemeClr val="accent1">
                      <a:lumMod val="50000"/>
                    </a:schemeClr>
                  </a:solidFill>
                </a:rPr>
                <a:t>Discount</a:t>
              </a:r>
              <a:endParaRPr lang="si-LK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 flipH="1">
              <a:off x="5366864" y="4980034"/>
              <a:ext cx="13434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 smtClean="0">
                  <a:solidFill>
                    <a:schemeClr val="accent1">
                      <a:lumMod val="50000"/>
                    </a:schemeClr>
                  </a:solidFill>
                </a:rPr>
                <a:t>NetAmount</a:t>
              </a:r>
              <a:endParaRPr lang="si-LK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sp>
        <p:nvSpPr>
          <p:cNvPr id="44" name="TextBox 43"/>
          <p:cNvSpPr txBox="1"/>
          <p:nvPr/>
        </p:nvSpPr>
        <p:spPr>
          <a:xfrm flipH="1">
            <a:off x="772596" y="1500478"/>
            <a:ext cx="19639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 smtClean="0"/>
              <a:t>CustomerAge</a:t>
            </a:r>
            <a:endParaRPr lang="si-LK" sz="1600" dirty="0"/>
          </a:p>
        </p:txBody>
      </p:sp>
      <p:sp>
        <p:nvSpPr>
          <p:cNvPr id="45" name="TextBox 44"/>
          <p:cNvSpPr txBox="1"/>
          <p:nvPr/>
        </p:nvSpPr>
        <p:spPr>
          <a:xfrm flipH="1">
            <a:off x="889494" y="1797549"/>
            <a:ext cx="21271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 smtClean="0"/>
              <a:t>CustomerSegment</a:t>
            </a:r>
            <a:endParaRPr lang="si-LK" sz="1600" dirty="0"/>
          </a:p>
        </p:txBody>
      </p:sp>
      <p:sp>
        <p:nvSpPr>
          <p:cNvPr id="46" name="TextBox 45"/>
          <p:cNvSpPr txBox="1"/>
          <p:nvPr/>
        </p:nvSpPr>
        <p:spPr>
          <a:xfrm flipH="1">
            <a:off x="832657" y="2366313"/>
            <a:ext cx="13434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Region</a:t>
            </a:r>
            <a:endParaRPr lang="si-LK" sz="1600" dirty="0"/>
          </a:p>
        </p:txBody>
      </p:sp>
      <p:grpSp>
        <p:nvGrpSpPr>
          <p:cNvPr id="57" name="Group 56"/>
          <p:cNvGrpSpPr/>
          <p:nvPr/>
        </p:nvGrpSpPr>
        <p:grpSpPr>
          <a:xfrm>
            <a:off x="845406" y="221514"/>
            <a:ext cx="2303590" cy="4086741"/>
            <a:chOff x="832657" y="210351"/>
            <a:chExt cx="2303590" cy="4086741"/>
          </a:xfrm>
        </p:grpSpPr>
        <p:sp>
          <p:nvSpPr>
            <p:cNvPr id="26" name="TextBox 25"/>
            <p:cNvSpPr txBox="1"/>
            <p:nvPr/>
          </p:nvSpPr>
          <p:spPr>
            <a:xfrm flipH="1">
              <a:off x="1292019" y="210351"/>
              <a:ext cx="15955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 smtClean="0"/>
                <a:t>DimCustomer</a:t>
              </a:r>
              <a:endParaRPr lang="si-LK" dirty="0"/>
            </a:p>
          </p:txBody>
        </p:sp>
        <p:sp>
          <p:nvSpPr>
            <p:cNvPr id="40" name="TextBox 39"/>
            <p:cNvSpPr txBox="1"/>
            <p:nvPr/>
          </p:nvSpPr>
          <p:spPr>
            <a:xfrm flipH="1">
              <a:off x="889130" y="621958"/>
              <a:ext cx="15282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err="1" smtClean="0"/>
                <a:t>CustomerSK</a:t>
              </a:r>
              <a:endParaRPr lang="si-LK" sz="1600" dirty="0"/>
            </a:p>
          </p:txBody>
        </p:sp>
        <p:sp>
          <p:nvSpPr>
            <p:cNvPr id="42" name="TextBox 41"/>
            <p:cNvSpPr txBox="1"/>
            <p:nvPr/>
          </p:nvSpPr>
          <p:spPr>
            <a:xfrm flipH="1">
              <a:off x="971188" y="926321"/>
              <a:ext cx="21650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err="1"/>
                <a:t>AlternateCustomerID</a:t>
              </a:r>
              <a:endParaRPr lang="si-LK" sz="1600" dirty="0"/>
            </a:p>
          </p:txBody>
        </p:sp>
        <p:sp>
          <p:nvSpPr>
            <p:cNvPr id="43" name="TextBox 42"/>
            <p:cNvSpPr txBox="1"/>
            <p:nvPr/>
          </p:nvSpPr>
          <p:spPr>
            <a:xfrm flipH="1">
              <a:off x="1040421" y="1215139"/>
              <a:ext cx="166569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err="1" smtClean="0"/>
                <a:t>CustomerGender</a:t>
              </a:r>
              <a:endParaRPr lang="si-LK" sz="1600" dirty="0"/>
            </a:p>
          </p:txBody>
        </p:sp>
        <p:sp>
          <p:nvSpPr>
            <p:cNvPr id="47" name="TextBox 46"/>
            <p:cNvSpPr txBox="1"/>
            <p:nvPr/>
          </p:nvSpPr>
          <p:spPr>
            <a:xfrm flipH="1">
              <a:off x="1023383" y="2650185"/>
              <a:ext cx="134346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err="1" smtClean="0"/>
                <a:t>LoyaltyTier</a:t>
              </a:r>
              <a:endParaRPr lang="si-LK" sz="1600" dirty="0"/>
            </a:p>
          </p:txBody>
        </p:sp>
        <p:sp>
          <p:nvSpPr>
            <p:cNvPr id="50" name="TextBox 49"/>
            <p:cNvSpPr txBox="1"/>
            <p:nvPr/>
          </p:nvSpPr>
          <p:spPr>
            <a:xfrm flipH="1">
              <a:off x="832657" y="2052622"/>
              <a:ext cx="134346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smtClean="0"/>
                <a:t>Region</a:t>
              </a:r>
              <a:endParaRPr lang="si-LK" sz="1600" dirty="0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1092757" y="2963876"/>
              <a:ext cx="199747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b="0" i="0" dirty="0" err="1" smtClean="0">
                  <a:solidFill>
                    <a:srgbClr val="0F1115"/>
                  </a:solidFill>
                  <a:effectLst/>
                </a:rPr>
                <a:t>CustomerTenureYears</a:t>
              </a:r>
              <a:endParaRPr lang="si-LK" sz="1600" dirty="0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1097225" y="3322847"/>
              <a:ext cx="128714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b="0" i="0" dirty="0" err="1" smtClean="0">
                  <a:solidFill>
                    <a:srgbClr val="0F1115"/>
                  </a:solidFill>
                  <a:effectLst/>
                </a:rPr>
                <a:t>EffectiveDate</a:t>
              </a:r>
              <a:endParaRPr lang="si-LK" sz="1600" dirty="0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1102624" y="3631179"/>
              <a:ext cx="108568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b="0" i="0" dirty="0" err="1" smtClean="0">
                  <a:solidFill>
                    <a:srgbClr val="0F1115"/>
                  </a:solidFill>
                  <a:effectLst/>
                </a:rPr>
                <a:t>ExpiryDate</a:t>
              </a:r>
              <a:endParaRPr lang="si-LK" sz="1600" dirty="0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1102624" y="3958538"/>
              <a:ext cx="951094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b="0" i="0" dirty="0" err="1" smtClean="0">
                  <a:solidFill>
                    <a:srgbClr val="0F1115"/>
                  </a:solidFill>
                  <a:effectLst/>
                </a:rPr>
                <a:t>IsCurrent</a:t>
              </a:r>
              <a:endParaRPr lang="si-LK" sz="1600" dirty="0"/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3814610" y="4144250"/>
            <a:ext cx="1951892" cy="2420888"/>
            <a:chOff x="3887071" y="4457700"/>
            <a:chExt cx="1951892" cy="2420888"/>
          </a:xfrm>
        </p:grpSpPr>
        <p:grpSp>
          <p:nvGrpSpPr>
            <p:cNvPr id="13" name="Group 12"/>
            <p:cNvGrpSpPr/>
            <p:nvPr/>
          </p:nvGrpSpPr>
          <p:grpSpPr>
            <a:xfrm>
              <a:off x="3887071" y="4457700"/>
              <a:ext cx="1951892" cy="2400300"/>
              <a:chOff x="4765431" y="2382715"/>
              <a:chExt cx="1951892" cy="2400300"/>
            </a:xfrm>
          </p:grpSpPr>
          <p:sp>
            <p:nvSpPr>
              <p:cNvPr id="14" name="Rectangle 13"/>
              <p:cNvSpPr/>
              <p:nvPr/>
            </p:nvSpPr>
            <p:spPr>
              <a:xfrm>
                <a:off x="4765431" y="2382715"/>
                <a:ext cx="1951892" cy="2400300"/>
              </a:xfrm>
              <a:prstGeom prst="rect">
                <a:avLst/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i-LK"/>
              </a:p>
            </p:txBody>
          </p:sp>
          <p:cxnSp>
            <p:nvCxnSpPr>
              <p:cNvPr id="15" name="Straight Connector 14"/>
              <p:cNvCxnSpPr/>
              <p:nvPr/>
            </p:nvCxnSpPr>
            <p:spPr>
              <a:xfrm flipV="1">
                <a:off x="4765431" y="2716823"/>
                <a:ext cx="1951892" cy="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TextBox 26"/>
            <p:cNvSpPr txBox="1"/>
            <p:nvPr/>
          </p:nvSpPr>
          <p:spPr>
            <a:xfrm flipH="1">
              <a:off x="4191284" y="4463797"/>
              <a:ext cx="13434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 smtClean="0"/>
                <a:t>DimProduct</a:t>
              </a:r>
              <a:endParaRPr lang="si-LK" dirty="0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3925120" y="4823016"/>
              <a:ext cx="113653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b="0" i="0" dirty="0" err="1" smtClean="0">
                  <a:solidFill>
                    <a:srgbClr val="0F1115"/>
                  </a:solidFill>
                  <a:effectLst/>
                </a:rPr>
                <a:t>ProductKey</a:t>
              </a:r>
              <a:endParaRPr lang="si-LK" sz="1600" dirty="0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3925120" y="5119820"/>
              <a:ext cx="101649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b="0" i="0" dirty="0" err="1" smtClean="0">
                  <a:solidFill>
                    <a:srgbClr val="0F1115"/>
                  </a:solidFill>
                  <a:effectLst/>
                </a:rPr>
                <a:t>ProductID</a:t>
              </a:r>
              <a:endParaRPr lang="si-LK" sz="1600" dirty="0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3925120" y="5434283"/>
              <a:ext cx="1335494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b="0" i="0" dirty="0" err="1" smtClean="0">
                  <a:solidFill>
                    <a:srgbClr val="0F1115"/>
                  </a:solidFill>
                  <a:effectLst/>
                </a:rPr>
                <a:t>ProductName</a:t>
              </a:r>
              <a:endParaRPr lang="si-LK" sz="1600" dirty="0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3925120" y="5698904"/>
              <a:ext cx="92878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b="0" i="0" dirty="0" smtClean="0">
                  <a:solidFill>
                    <a:srgbClr val="0F1115"/>
                  </a:solidFill>
                  <a:effectLst/>
                </a:rPr>
                <a:t>Category</a:t>
              </a:r>
              <a:endParaRPr lang="si-LK" sz="1600" dirty="0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3887071" y="5953421"/>
              <a:ext cx="1238159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b="0" i="0" dirty="0" err="1" smtClean="0">
                  <a:solidFill>
                    <a:srgbClr val="0F1115"/>
                  </a:solidFill>
                  <a:effectLst/>
                </a:rPr>
                <a:t>SubCategory</a:t>
              </a:r>
              <a:endParaRPr lang="si-LK" sz="1600" dirty="0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3887071" y="6243000"/>
              <a:ext cx="95250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b="0" i="0" dirty="0" err="1" smtClean="0">
                  <a:solidFill>
                    <a:srgbClr val="0F1115"/>
                  </a:solidFill>
                  <a:effectLst/>
                </a:rPr>
                <a:t>UnitPrice</a:t>
              </a:r>
              <a:endParaRPr lang="si-LK" sz="1600" dirty="0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3950654" y="6540034"/>
              <a:ext cx="869149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b="0" i="0" dirty="0" smtClean="0">
                  <a:solidFill>
                    <a:srgbClr val="0F1115"/>
                  </a:solidFill>
                  <a:effectLst/>
                </a:rPr>
                <a:t>Supplier</a:t>
              </a:r>
              <a:endParaRPr lang="si-LK" sz="1600" dirty="0"/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9160195" y="3530921"/>
            <a:ext cx="1951892" cy="2400300"/>
            <a:chOff x="9160195" y="3530921"/>
            <a:chExt cx="1951892" cy="2400300"/>
          </a:xfrm>
        </p:grpSpPr>
        <p:grpSp>
          <p:nvGrpSpPr>
            <p:cNvPr id="22" name="Group 21"/>
            <p:cNvGrpSpPr/>
            <p:nvPr/>
          </p:nvGrpSpPr>
          <p:grpSpPr>
            <a:xfrm>
              <a:off x="9160195" y="3530921"/>
              <a:ext cx="1951892" cy="2400300"/>
              <a:chOff x="4765431" y="2382715"/>
              <a:chExt cx="1951892" cy="2400300"/>
            </a:xfrm>
          </p:grpSpPr>
          <p:sp>
            <p:nvSpPr>
              <p:cNvPr id="23" name="Rectangle 22"/>
              <p:cNvSpPr/>
              <p:nvPr/>
            </p:nvSpPr>
            <p:spPr>
              <a:xfrm>
                <a:off x="4765431" y="2382715"/>
                <a:ext cx="1951892" cy="2400300"/>
              </a:xfrm>
              <a:prstGeom prst="rect">
                <a:avLst/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i-LK"/>
              </a:p>
            </p:txBody>
          </p:sp>
          <p:cxnSp>
            <p:nvCxnSpPr>
              <p:cNvPr id="24" name="Straight Connector 23"/>
              <p:cNvCxnSpPr/>
              <p:nvPr/>
            </p:nvCxnSpPr>
            <p:spPr>
              <a:xfrm flipV="1">
                <a:off x="4765431" y="2716823"/>
                <a:ext cx="1951892" cy="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TextBox 28"/>
            <p:cNvSpPr txBox="1"/>
            <p:nvPr/>
          </p:nvSpPr>
          <p:spPr>
            <a:xfrm flipH="1">
              <a:off x="9618198" y="3591656"/>
              <a:ext cx="13434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 smtClean="0"/>
                <a:t>DimDate</a:t>
              </a:r>
              <a:endParaRPr lang="si-LK" dirty="0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9252445" y="3865029"/>
              <a:ext cx="87447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b="0" i="0" dirty="0" err="1" smtClean="0">
                  <a:solidFill>
                    <a:srgbClr val="0F1115"/>
                  </a:solidFill>
                  <a:effectLst/>
                </a:rPr>
                <a:t>DateKey</a:t>
              </a:r>
              <a:endParaRPr lang="si-LK" sz="1600" dirty="0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9237104" y="4135919"/>
              <a:ext cx="87145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err="1" smtClean="0"/>
                <a:t>FullDate</a:t>
              </a:r>
              <a:endParaRPr lang="si-LK" sz="1600" dirty="0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9237104" y="4421139"/>
              <a:ext cx="54181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b="0" i="0" dirty="0" smtClean="0">
                  <a:solidFill>
                    <a:srgbClr val="0F1115"/>
                  </a:solidFill>
                  <a:effectLst/>
                </a:rPr>
                <a:t>Year</a:t>
              </a:r>
              <a:endParaRPr lang="si-LK" sz="1600" dirty="0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9252445" y="4682109"/>
              <a:ext cx="84132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b="0" i="0" dirty="0" smtClean="0">
                  <a:solidFill>
                    <a:srgbClr val="0F1115"/>
                  </a:solidFill>
                  <a:effectLst/>
                </a:rPr>
                <a:t>Quarter</a:t>
              </a:r>
              <a:endParaRPr lang="si-LK" sz="1600" dirty="0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9237104" y="5228299"/>
              <a:ext cx="124713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b="0" i="0" dirty="0" err="1" smtClean="0">
                  <a:solidFill>
                    <a:srgbClr val="0F1115"/>
                  </a:solidFill>
                  <a:effectLst/>
                </a:rPr>
                <a:t>MonthName</a:t>
              </a:r>
              <a:endParaRPr lang="si-LK" sz="1600" dirty="0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9237104" y="4968111"/>
              <a:ext cx="75020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b="0" i="0" dirty="0" smtClean="0">
                  <a:solidFill>
                    <a:srgbClr val="0F1115"/>
                  </a:solidFill>
                  <a:effectLst/>
                </a:rPr>
                <a:t>Month</a:t>
              </a:r>
              <a:endParaRPr lang="si-LK" sz="1600" dirty="0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9237104" y="5495926"/>
              <a:ext cx="1226453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0" i="0" dirty="0" err="1" smtClean="0">
                  <a:solidFill>
                    <a:srgbClr val="0F1115"/>
                  </a:solidFill>
                  <a:effectLst/>
                </a:rPr>
                <a:t>DayOfWeek</a:t>
              </a:r>
              <a:endParaRPr lang="si-LK" sz="1600" dirty="0"/>
            </a:p>
          </p:txBody>
        </p:sp>
      </p:grpSp>
      <p:grpSp>
        <p:nvGrpSpPr>
          <p:cNvPr id="81" name="Group 80"/>
          <p:cNvGrpSpPr/>
          <p:nvPr/>
        </p:nvGrpSpPr>
        <p:grpSpPr>
          <a:xfrm>
            <a:off x="9313985" y="521622"/>
            <a:ext cx="1951892" cy="2644930"/>
            <a:chOff x="9313985" y="521622"/>
            <a:chExt cx="1951892" cy="2644930"/>
          </a:xfrm>
        </p:grpSpPr>
        <p:grpSp>
          <p:nvGrpSpPr>
            <p:cNvPr id="19" name="Group 18"/>
            <p:cNvGrpSpPr/>
            <p:nvPr/>
          </p:nvGrpSpPr>
          <p:grpSpPr>
            <a:xfrm>
              <a:off x="9313985" y="548053"/>
              <a:ext cx="1951892" cy="2618499"/>
              <a:chOff x="4765431" y="2382715"/>
              <a:chExt cx="1951892" cy="2400300"/>
            </a:xfrm>
          </p:grpSpPr>
          <p:sp>
            <p:nvSpPr>
              <p:cNvPr id="20" name="Rectangle 19"/>
              <p:cNvSpPr/>
              <p:nvPr/>
            </p:nvSpPr>
            <p:spPr>
              <a:xfrm>
                <a:off x="4765431" y="2382715"/>
                <a:ext cx="1951892" cy="2400300"/>
              </a:xfrm>
              <a:prstGeom prst="rect">
                <a:avLst/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i-LK"/>
              </a:p>
            </p:txBody>
          </p:sp>
          <p:cxnSp>
            <p:nvCxnSpPr>
              <p:cNvPr id="21" name="Straight Connector 20"/>
              <p:cNvCxnSpPr/>
              <p:nvPr/>
            </p:nvCxnSpPr>
            <p:spPr>
              <a:xfrm flipV="1">
                <a:off x="4765431" y="2716823"/>
                <a:ext cx="1951892" cy="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" name="TextBox 24"/>
            <p:cNvSpPr txBox="1"/>
            <p:nvPr/>
          </p:nvSpPr>
          <p:spPr>
            <a:xfrm flipH="1">
              <a:off x="9618198" y="521622"/>
              <a:ext cx="14776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 smtClean="0"/>
                <a:t>DimSalesRep</a:t>
              </a:r>
              <a:endParaRPr lang="si-LK" dirty="0"/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9409314" y="892589"/>
              <a:ext cx="14536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 smtClean="0"/>
                <a:t>SalesRepKey</a:t>
              </a:r>
              <a:endParaRPr lang="si-LK" sz="1600" dirty="0"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9409314" y="1195823"/>
              <a:ext cx="14536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 smtClean="0"/>
                <a:t>SalesRepID</a:t>
              </a:r>
              <a:endParaRPr lang="si-LK" sz="1600" dirty="0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9409314" y="1521756"/>
              <a:ext cx="14536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 smtClean="0"/>
                <a:t>SalesRepName</a:t>
              </a:r>
              <a:endParaRPr lang="si-LK" sz="1600" dirty="0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9418231" y="1826333"/>
              <a:ext cx="14536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/>
                <a:t>Region</a:t>
              </a:r>
              <a:endParaRPr lang="si-LK" sz="1600" dirty="0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9418230" y="2101158"/>
              <a:ext cx="14536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/>
                <a:t>Team</a:t>
              </a:r>
              <a:endParaRPr lang="si-LK" sz="1600" dirty="0"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9418230" y="2397663"/>
              <a:ext cx="14536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/>
                <a:t>Title</a:t>
              </a:r>
              <a:endParaRPr lang="si-LK" sz="1600" dirty="0"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9418230" y="2641781"/>
              <a:ext cx="14536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 smtClean="0"/>
                <a:t>HireDate</a:t>
              </a:r>
              <a:endParaRPr lang="si-LK" sz="1600" dirty="0"/>
            </a:p>
          </p:txBody>
        </p:sp>
      </p:grpSp>
      <p:cxnSp>
        <p:nvCxnSpPr>
          <p:cNvPr id="83" name="Straight Connector 82"/>
          <p:cNvCxnSpPr/>
          <p:nvPr/>
        </p:nvCxnSpPr>
        <p:spPr>
          <a:xfrm>
            <a:off x="3580695" y="1798838"/>
            <a:ext cx="198912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 flipV="1">
            <a:off x="4622800" y="3047186"/>
            <a:ext cx="947016" cy="108873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 flipV="1">
            <a:off x="7785093" y="1585461"/>
            <a:ext cx="1528892" cy="51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/>
          <p:nvPr/>
        </p:nvCxnSpPr>
        <p:spPr>
          <a:xfrm>
            <a:off x="7789798" y="2907760"/>
            <a:ext cx="1370397" cy="62095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5368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47</Words>
  <Application>Microsoft Office PowerPoint</Application>
  <PresentationFormat>Widescreen</PresentationFormat>
  <Paragraphs>47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Iskoola Pota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FERNANDO A.S.S it23681910</dc:creator>
  <cp:lastModifiedBy>FERNANDO A.S.S it23681910</cp:lastModifiedBy>
  <cp:revision>8</cp:revision>
  <dcterms:created xsi:type="dcterms:W3CDTF">2026-03-10T11:17:20Z</dcterms:created>
  <dcterms:modified xsi:type="dcterms:W3CDTF">2026-03-26T10:03:52Z</dcterms:modified>
</cp:coreProperties>
</file>